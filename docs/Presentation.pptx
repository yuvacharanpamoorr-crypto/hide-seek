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8" r:id="rId2"/>
    <p:sldId id="271" r:id="rId3"/>
    <p:sldId id="259" r:id="rId4"/>
    <p:sldId id="260" r:id="rId5"/>
    <p:sldId id="261" r:id="rId6"/>
    <p:sldId id="262" r:id="rId7"/>
    <p:sldId id="263" r:id="rId8"/>
    <p:sldId id="267" r:id="rId9"/>
    <p:sldId id="268" r:id="rId10"/>
    <p:sldId id="269" r:id="rId11"/>
    <p:sldId id="270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0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199" y="1508760"/>
            <a:ext cx="8147849" cy="31546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960120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960120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Modes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947672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47672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(1080p)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935224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935224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922776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922776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C44499BD-0A99-E93B-9D60-34FDB9402A5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8356" y="1140589"/>
            <a:ext cx="77512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Steganography is the process of hiding secret information inside digital media such as images, audio, or videos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conceals the existence of the message from unauthorized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LSB steganography hides data by modifying the least significant bits of image pixels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hidden information remains visually undetectable to the human eye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secure communication, cybersecurity, and digital watermarking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120640" cy="38404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StegoSuite v3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browser-based cryptographic toolkit integrating Least Significant Bit (LSB) image steganography with modern encryption techniques — RSA and AES-256-GCM.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embeds encrypted payloads invisibly within digital images by manipulating the least significant bit of each RGB pixel channel, producing visually imperceptible changes. A custom magic header (STG1) is prepended to every payload for reliable extraction.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cryptographic backends: an educational BigInt-based RSA module with Miller-Rabin primality testing, and a production WebCrypto API module using hardware-accelerated RSA-OAEP (2048-bit) with AES-256-GCM hybrid encryption. A Java implementation mirrors the core logic for cross-platform use.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execute entirely client-side — zero server, zero tracking, ephemeral key management.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200400" cy="8961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960120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960120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947672"/>
            <a:ext cx="3200400" cy="8961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947672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~777KB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47672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(1080p)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935224"/>
            <a:ext cx="3200400" cy="8961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935224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935224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922776"/>
            <a:ext cx="3200400" cy="8961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922776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JS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922776"/>
            <a:ext cx="1645920" cy="8961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259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143000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4300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9019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text in image RGB LSBs with STG1 magic header &amp; UTF-8 support. Zero visible change to carrier image.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1005840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00584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00984" y="1143000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114300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00984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Encryption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00984" y="19019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BigInt RSA with Miller-Rabin primality testing. Supports 512 / 1024 / 2048-bit key pairs.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1005840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00584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143000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14300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08776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WebCrypto AES-GCM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08776" y="19019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RSA-OAEP + AES-256-GCM hybrid encryption for arbitrarily large messages.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862072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862072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2999232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99923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and invisible watermark embedding for ownership verification and tamper detection.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63824" y="2862072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2862072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00984" y="2999232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299923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JVM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00984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00984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Java 17 implementation using javax.crypto and java.security — no external libraries required.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71616" y="2862072"/>
            <a:ext cx="274320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2862072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2999232"/>
            <a:ext cx="47548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299923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ZTD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08776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Design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08776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client-side. No server. No tracking. Ephemeral keys vanish when the tab is closed.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3566160" cy="38587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3383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← Home overview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steganography.html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LSB embed/extract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watermark.html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Watermarking tool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← Educational RSA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webcrypto.html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AES-GCM crypto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← Java standalone
assets/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stego.js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← LSB engine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rsa.js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← BigInt RSA lib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webcrypto.js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WebCrypto wrapper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ui.js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← Drag-drop, toast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style.css</a:t>
            </a:r>
            <a:r>
              <a:rPr lang="en-US" sz="850" dirty="0">
                <a:solidFill>
                  <a:srgbClr val="A0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Theme &amp; layout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960120"/>
            <a:ext cx="4818888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1024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7282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728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62272" y="16916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carrier image (PNG)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202082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0208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19842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reads pixel RGBA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3134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62272" y="227685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encoded to UTF-8 bytes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260604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6060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62272" y="25694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STG1 magic + length + payload assembled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289864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62272" y="28620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of each R,G,B channel overwritten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19125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31912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62272" y="3154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canvas exported as new 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3474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06240" y="376732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767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62272" y="373075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bits collected from R,G,B channels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404164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4041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62272" y="40050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32 bits checked for STG1 magic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431596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43159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62272" y="42793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header decoded (next 32 bits)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06240" y="4590288"/>
            <a:ext cx="201168" cy="201168"/>
          </a:xfrm>
          <a:prstGeom prst="ellipse">
            <a:avLst/>
          </a:prstGeom>
          <a:solidFill>
            <a:srgbClr val="E58B00"/>
          </a:solidFill>
          <a:ln w="12700">
            <a:solidFill>
              <a:srgbClr val="E58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4590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62272" y="45537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bytes reconstructed → UTF-8 decode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— Deep Dive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STG1 Magic (32 bits) ]  +  [ Length Header (32 bits) ]  +  [ UTF-8 Payload (N bytes)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600200"/>
            <a:ext cx="8631936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Operation: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56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pixel_channel = (pixel_channel &amp; 0xFE) | bit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240280"/>
            <a:ext cx="8631936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Formula: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496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= floor((width × height × 3 − 64) / 8)  bytes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9718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Capacity Reference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310128"/>
          <a:ext cx="8631936" cy="1508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Payload (bytes)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Payload (chars)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×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262,144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× 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786,432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~294,800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 × 1080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2,073,600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777,592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~777,500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256032" y="484632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channel is skipped — only R, G, B bits are used, preserving full transparency data.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Modules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2519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— Educational (rsa.js)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JavaScript BigInt implementation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Miller-Rabin primality testing (10 rounds)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512 / 1024 / 2048-bit keys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PKCS#1 v1.5 padding scheme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 key export (Base64 DER format)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tabs: Key Gen · Encrypt · Decrypt · Hybrid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gen: 512-bit ~1s, 2048-bit ~30s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— no native crypto API used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960120"/>
            <a:ext cx="425196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WebCrypto — Production (webcrypto.js)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window.crypto.subtle (hardware-accelerated)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 2048-bit with SHA-256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with 96-bit random IV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RSA wraps AES key, AES encrypts data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Signatures: RSA-PSS (SHA-256)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encryption: any format → binary payload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import/export in PEM + JWK formats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Production-grade: constant-time, no side channels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347472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34747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key generation (KeyPairGenerator)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Encrypt / Decrypt (RSA/ECB/PKCS1Padding)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Hybrid Encryption (AES/ECB/PKCS5Padding)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Image Steganography (BufferedImage ops)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Watermarking (Graphics2D overlay)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key/data serialization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 — Java 17 stdlib only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Compile: javac main.java  →  Run: java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960120"/>
            <a:ext cx="4910328" cy="3858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LSB Embed (Java)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BufferedImage img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ImageIO.read(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pixel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img.getRGB(x, y);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(pixel &gt;&gt; 16) &amp; 0xFF;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(pixel &gt;&gt;  8) &amp; 0xFF;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 pixel        &amp; 0xFF;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(r &amp; 0xFE) | 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bit0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;g = (g &amp; 0xFE) | 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bit1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;b = (b &amp; 0xFE) | </a:t>
            </a: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bit2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newPixel</a:t>
            </a: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(r&lt;&lt;16)|(g&lt;&lt;8)|b;img.setRGB(x, y, newPixel);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Identical logic mirrors the JavaScript stego.js engine — cross-platform compatible outputs.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LSB Steganography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60520" cy="19933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Bit-Plane Embedding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LSB, then write secret bit b ∈ {0,1}: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p' = (p  &amp;  0xFE)  | 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1122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0xFE = 11111110₂  →  masks the least significant bit to 0, preserving all 7 upper bits. The secret bit b then occupies position 0.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035808"/>
            <a:ext cx="4160520" cy="18470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3035808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0358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Formula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embeddable payload in bytes: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" y="3730752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7307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floor( (W × H × 3  −  64) / 8 )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" y="418795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W×H×3 = total RGB channel bits available. 64 bits reserved for STG1 magic (32 b) + length header (32 b). Divide by 8 to convert bits → bytes.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6008" y="960120"/>
            <a:ext cx="4251960" cy="18470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960120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PSNR (Quality Guarantee)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1380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Signal-to-Noise Ratio after embedding: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PSNR = 10 · log₁₀( 255² / MSE 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1122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LSB-only change → MSE = 0.75 (on average, ½ of pixels flip 1 LSB). Gives PSNR ≈ 51.1 dB — imperceptible to human vision (threshold ≈ 40 dB).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2889504"/>
            <a:ext cx="4251960" cy="19933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2889504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8895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Bit Extraction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3310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secret byte from 8 consecutive pixels: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3584448"/>
            <a:ext cx="3977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844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= Σ (pᵢ &amp; 1) · 2^(7−i),   i = 0..7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40416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channel contributes 1 bit via AND 1. Eight channels → 1 byte. STG1 magic (0x53544731) is verified first before length and payload bytes are decoded.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RSA Encryption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863193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 — Step by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primes  p, q  (Miller-Rabin tested)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740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9572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p · q   (modulus, 2048-bit)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9476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3308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φ(n) = (p − 1)(q − 1)   (Euler's totient)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3212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044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65537   (public exponent, gcd(e, φ(n)) = 1)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69480" y="1481328"/>
            <a:ext cx="10972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371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7808" y="13533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≡ e⁻¹ (mod φ(n))   (extended Euclidean algorithm)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487168"/>
            <a:ext cx="4160520" cy="239572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487168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4871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&amp; Decrypt Operations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" y="29077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 (public key e, n):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3192" y="3182112"/>
            <a:ext cx="3886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182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Mᵉ  mod  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" y="3602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 (private key d, n):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" y="3877056"/>
            <a:ext cx="3886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87705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Cᵈ  mod  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" y="4297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Modular Exponentiation (square-and-multiply) keeps runtime O(log e) multiplications — essential for 2048-bit keys.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36008" y="2487168"/>
            <a:ext cx="4251960" cy="239572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2487168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4871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Foundation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29077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Factorisation Problem: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3182112"/>
            <a:ext cx="39776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1821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n = p·q,  find p and q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36027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known algorithm (GNFS) runs in sub-exponential time exp(O(n^(1/3))). At 2048-bit: ~2¹¹² operations — computationally infeasible.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40416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PKCS#1 v1.5 Padding: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73168" y="4315968"/>
            <a:ext cx="39776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3159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 | 0x02 | PS | 0x00 | 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73168" y="4736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= random non-zero padding bytes. Prevents chosen-plaintext attacks against raw RSA.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AES-256-GCM &amp; Hybrid Encryption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6052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SubBytes — GF(2⁸) Inversion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byte b mapped via multiplicative inverse in GF(2⁸):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550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S(b) = b⁻¹  in  GF(2⁸)  mod  (x⁸+x⁴+x³+x+1)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1122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polynomial 0x11B defines the field. b·b⁻¹ ≡ 1 (mod 0x11B). Then an affine transform over GF(2) produces the final S-box value.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907792"/>
            <a:ext cx="416052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907792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9077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MixColumns — GF(2⁸) Matrix Multiply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33284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4-byte column c multiplied by fixed matrix M: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" y="3602736"/>
            <a:ext cx="3886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6027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 3 1 1 | 1 2 3 1 | 1 1 2 3 | 3 1 1 2] · 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" y="405993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by 2 = left-shift + conditional XOR 0x1B (if MSB was set). Provides diffusion — every output byte depends on all 4 input bytes.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6008" y="960120"/>
            <a:ext cx="425196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960120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Authentication Tag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1380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GHASH over ciphertext C and AAD A: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65506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GHASH(H, A, C)  ⊕  E(K, IV||0¹)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21122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AES_K(0¹²⁸). GHASH multiplies blocks over GF(2¹²⁸) mod x¹²⁸+x⁷+x²+x+1. Tag T is 128-bit — any ciphertext tamper invalidates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2907792"/>
            <a:ext cx="425196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2907792"/>
            <a:ext cx="42519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9077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RSA + AES-GCM 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33284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encapsulation mechanism (KEM):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3602736"/>
            <a:ext cx="397764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60273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K_aes ← random 256-bit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C_key = K_pub^e mod n (RSA-OAEP)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C_data = AES-GCM(K_aes, IV, M)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3159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Decryption: K_aes = C_key^d mod n, then M = AES-GCM-Decrypt(K_aes, IV, C_data). RSA secures 32 bytes; AES handles arbitrary-length messages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of Miller-Rabin Primality Testing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863193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— Write n−1 = 2ˢ · d  (d odd), pick random witness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89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 x = aᵈ mod 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655064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55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550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 1  or  x = n−1  →  "probably prime"  (pass this round)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920240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0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19202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s−1 times:  x = x² mod 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185416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185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1854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 n−1  →  "probably prime".   If x = 1  →  "composite"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450592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450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24505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all squarings without n−1  →  "composite"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71800"/>
            <a:ext cx="2743200" cy="190195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971800"/>
            <a:ext cx="27432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971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Probability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" y="3392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of false prime after k rounds: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" y="3666744"/>
            <a:ext cx="24688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6667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P(error) ≤ 4⁻ᵏ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3192" y="41239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k=10 rounds: P ≤ 4⁻¹⁰ ≈ 10⁻⁶. Project uses k=10 rounds — fewer than 1 in a million false positives.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45536" y="2971800"/>
            <a:ext cx="2871216" cy="190195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45536" y="2971800"/>
            <a:ext cx="287121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29718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Little Theorem (Basis)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82696" y="33924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prime p and gcd(a,p)=1: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82696" y="3666744"/>
            <a:ext cx="2596896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66674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aᵖ⁻¹ ≡ 1  (mod p)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82696" y="412394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Miller-Rabin strengthens this: it checks all square-roots of 1 in the chain aᵈ, a²ᵈ, …, a^(2^s · d), catching strong pseudoprimes that fool basic Fermat.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2971800"/>
            <a:ext cx="2724912" cy="190195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2971800"/>
            <a:ext cx="272491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29718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Complexity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0216" y="33924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round (modular exponentiation):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0216" y="3666744"/>
            <a:ext cx="2450592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36667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O(log²n · log k)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41239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2048-bit n with k=10 rounds: ~30 seconds in pure BigInt JS. Native crypto (window.crypto) eliminates this bottleneck for production keys.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25196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steganography pipeline (JS + Java)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cryptographic backends (educational + production)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+ RSA-OAEP hybrid encryption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 module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client-side architecture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dark UI with drag-drop UX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browser + Java 17 standalone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960120"/>
            <a:ext cx="4251960" cy="38587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960120"/>
            <a:ext cx="42519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41732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DCT-based frequency-domain steganography for higher robustness against compression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payload spreading to increase capacity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provenance tracking for watermarked media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 (React Native / Flutter)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digital signatures with Web Crypto API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detection / steganalysis module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key management with HSM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390448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83210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Chandramouli, R. &amp; Memon, N. (2001). Analysis of LSB based image steganography techniques. IEEE ICIP.
[2] Rivest, R., Shamir, A., &amp; Adleman, L. (1978). A method for obtaining digital signatures and public-key cryptosystems. CACM, 21(2).
[3] Bellare, M. &amp; Rogaway, P. (1994). Optimal Asymmetric Encryption — How to Encrypt with RSA. EUROCRYPT.
[4] McGrew, D. &amp; Viega, J. (2004). The Galois/Counter Mode of Operation (GCM). NIST Submission.
[5] Mozilla MDN. (2024). Web Crypto API. developer.mozilla.org/en-US/docs/Web/API/Web_Crypto_API
[6] Johnson, N.F. &amp; Jajodia, S. (1998). Exploring steganography: Seeing the unseen. IEEE Computer, 31(2).
[7] Miller, G. (1976). Riemann's Hypothesis and Tests for Primality. JCSS 13(3), 300–317.
[8] Rabin, M. (1980). Probabilistic Algorithm for Testing Primality. Journal of Number Theory, 12(1).
[9] W3C. (2024). Web Cryptography API Specification. w3.org/TR/WebCryptoAPI/
[10] Oracle. (2024). Java Cryptography Architecture (JCA) Reference Guide. Java SE 17 Documentation.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2379</Words>
  <Application>Microsoft Office PowerPoint</Application>
  <PresentationFormat>On-screen Show (16:9)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Image Steganography Suite</dc:title>
  <dc:subject>PptxGenJS Presentation</dc:subject>
  <dc:creator>PptxGenJS</dc:creator>
  <cp:lastModifiedBy>Pardhav Reddy</cp:lastModifiedBy>
  <cp:revision>4</cp:revision>
  <dcterms:created xsi:type="dcterms:W3CDTF">2026-05-16T17:40:27Z</dcterms:created>
  <dcterms:modified xsi:type="dcterms:W3CDTF">2026-06-02T20:50:27Z</dcterms:modified>
</cp:coreProperties>
</file>